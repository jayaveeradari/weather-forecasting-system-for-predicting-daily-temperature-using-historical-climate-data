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ricolage Grotesque SemiBold" panose="020B0604020202020204" charset="0"/>
      <p:regular r:id="rId13"/>
    </p:embeddedFon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ay Reddy" userId="fe8449e3669b3f49" providerId="LiveId" clId="{69B5040E-641B-4DC5-8BC9-C86ECD336022}"/>
    <pc:docChg chg="undo custSel modSld">
      <pc:chgData name="Ajay Reddy" userId="fe8449e3669b3f49" providerId="LiveId" clId="{69B5040E-641B-4DC5-8BC9-C86ECD336022}" dt="2026-09-30T13:58:05.917" v="113" actId="20577"/>
      <pc:docMkLst>
        <pc:docMk/>
      </pc:docMkLst>
      <pc:sldChg chg="addSp delSp modSp mod">
        <pc:chgData name="Ajay Reddy" userId="fe8449e3669b3f49" providerId="LiveId" clId="{69B5040E-641B-4DC5-8BC9-C86ECD336022}" dt="2026-09-30T13:58:05.917" v="113" actId="20577"/>
        <pc:sldMkLst>
          <pc:docMk/>
          <pc:sldMk cId="0" sldId="256"/>
        </pc:sldMkLst>
        <pc:spChg chg="mod">
          <ac:chgData name="Ajay Reddy" userId="fe8449e3669b3f49" providerId="LiveId" clId="{69B5040E-641B-4DC5-8BC9-C86ECD336022}" dt="2026-09-29T08:18:57.154" v="21" actId="14100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Ajay Reddy" userId="fe8449e3669b3f49" providerId="LiveId" clId="{69B5040E-641B-4DC5-8BC9-C86ECD336022}" dt="2026-09-29T08:19:02.051" v="25"/>
          <ac:spMkLst>
            <pc:docMk/>
            <pc:sldMk cId="0" sldId="256"/>
            <ac:spMk id="6" creationId="{7356627F-AD11-A18B-CE0A-30DE76760D97}"/>
          </ac:spMkLst>
        </pc:spChg>
        <pc:spChg chg="add del mod">
          <ac:chgData name="Ajay Reddy" userId="fe8449e3669b3f49" providerId="LiveId" clId="{69B5040E-641B-4DC5-8BC9-C86ECD336022}" dt="2026-09-29T08:19:09.483" v="28"/>
          <ac:spMkLst>
            <pc:docMk/>
            <pc:sldMk cId="0" sldId="256"/>
            <ac:spMk id="7" creationId="{DE7DFCC2-2DD2-730B-AE4A-B2EB49B04D66}"/>
          </ac:spMkLst>
        </pc:spChg>
        <pc:spChg chg="add del">
          <ac:chgData name="Ajay Reddy" userId="fe8449e3669b3f49" providerId="LiveId" clId="{69B5040E-641B-4DC5-8BC9-C86ECD336022}" dt="2026-09-29T08:19:15.954" v="30" actId="22"/>
          <ac:spMkLst>
            <pc:docMk/>
            <pc:sldMk cId="0" sldId="256"/>
            <ac:spMk id="9" creationId="{41BF0A25-8D92-A4C0-23BF-1D40E0E76E48}"/>
          </ac:spMkLst>
        </pc:spChg>
        <pc:spChg chg="add mod">
          <ac:chgData name="Ajay Reddy" userId="fe8449e3669b3f49" providerId="LiveId" clId="{69B5040E-641B-4DC5-8BC9-C86ECD336022}" dt="2026-09-30T13:56:52.185" v="97" actId="14100"/>
          <ac:spMkLst>
            <pc:docMk/>
            <pc:sldMk cId="0" sldId="256"/>
            <ac:spMk id="10" creationId="{222EAEA7-BF79-048F-8444-B5652D44A96E}"/>
          </ac:spMkLst>
        </pc:spChg>
        <pc:spChg chg="add del mod">
          <ac:chgData name="Ajay Reddy" userId="fe8449e3669b3f49" providerId="LiveId" clId="{69B5040E-641B-4DC5-8BC9-C86ECD336022}" dt="2026-09-29T08:20:05.034" v="41"/>
          <ac:spMkLst>
            <pc:docMk/>
            <pc:sldMk cId="0" sldId="256"/>
            <ac:spMk id="11" creationId="{3230AD07-4A89-0BCF-1D25-C1C28BB9A11E}"/>
          </ac:spMkLst>
        </pc:spChg>
        <pc:spChg chg="add mod">
          <ac:chgData name="Ajay Reddy" userId="fe8449e3669b3f49" providerId="LiveId" clId="{69B5040E-641B-4DC5-8BC9-C86ECD336022}" dt="2026-09-30T13:58:05.917" v="113" actId="20577"/>
          <ac:spMkLst>
            <pc:docMk/>
            <pc:sldMk cId="0" sldId="256"/>
            <ac:spMk id="13" creationId="{AD58C827-D486-7B7B-595A-FB33777991F5}"/>
          </ac:spMkLst>
        </pc:spChg>
      </pc:sldChg>
      <pc:sldChg chg="addSp delSp modSp mod">
        <pc:chgData name="Ajay Reddy" userId="fe8449e3669b3f49" providerId="LiveId" clId="{69B5040E-641B-4DC5-8BC9-C86ECD336022}" dt="2026-09-29T08:18:43.439" v="19" actId="767"/>
        <pc:sldMkLst>
          <pc:docMk/>
          <pc:sldMk cId="0" sldId="258"/>
        </pc:sldMkLst>
        <pc:spChg chg="add del mod">
          <ac:chgData name="Ajay Reddy" userId="fe8449e3669b3f49" providerId="LiveId" clId="{69B5040E-641B-4DC5-8BC9-C86ECD336022}" dt="2026-09-29T08:18:43.439" v="19" actId="767"/>
          <ac:spMkLst>
            <pc:docMk/>
            <pc:sldMk cId="0" sldId="258"/>
            <ac:spMk id="17" creationId="{8A5DE5AB-A994-4509-BD49-086EADE2E731}"/>
          </ac:spMkLst>
        </pc:spChg>
        <pc:spChg chg="add mod">
          <ac:chgData name="Ajay Reddy" userId="fe8449e3669b3f49" providerId="LiveId" clId="{69B5040E-641B-4DC5-8BC9-C86ECD336022}" dt="2026-09-29T08:18:40.021" v="14" actId="767"/>
          <ac:spMkLst>
            <pc:docMk/>
            <pc:sldMk cId="0" sldId="258"/>
            <ac:spMk id="18" creationId="{A1481107-DB74-99C2-FEF7-5BE94D0A3F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13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393874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Weather Forecasting System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96119" y="1266007"/>
            <a:ext cx="4722763" cy="2398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Predicting Daily Temperature Using Historical Climate Data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496119" y="4085258"/>
            <a:ext cx="472276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machine learning–driven platform that transforms historical climate records into accurate, actionable daily temperature forecasts for agriculture, disaster management, and environmental research.</a:t>
            </a:r>
            <a:endParaRPr lang="en-US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EAEA7-BF79-048F-8444-B5652D44A96E}"/>
              </a:ext>
            </a:extLst>
          </p:cNvPr>
          <p:cNvSpPr txBox="1"/>
          <p:nvPr/>
        </p:nvSpPr>
        <p:spPr>
          <a:xfrm>
            <a:off x="3523957" y="3320822"/>
            <a:ext cx="1913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REG NO: 323129510001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58C827-D486-7B7B-595A-FB33777991F5}"/>
              </a:ext>
            </a:extLst>
          </p:cNvPr>
          <p:cNvSpPr txBox="1"/>
          <p:nvPr/>
        </p:nvSpPr>
        <p:spPr>
          <a:xfrm>
            <a:off x="3576710" y="3058572"/>
            <a:ext cx="28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NAME: </a:t>
            </a:r>
            <a:r>
              <a:rPr lang="en-IN" sz="1400" b="1" dirty="0" err="1"/>
              <a:t>A.jayaveer</a:t>
            </a:r>
            <a:r>
              <a:rPr lang="en-IN" sz="1400" b="1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905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Why Accurate Weather Forecasting Matters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45555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0625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Agriculture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1127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Optimizes planting, irrigation, and harvest scheduling to protect crop yields.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345555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80625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Transportation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1127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route planning and logistics decisions to reduce weather-related disruptions.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345555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80625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Disaster Management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1127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early warnings for extreme events, reducing casualties and economic losses.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53742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Environmental Monitoring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84393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climate trends and ecosystem changes for long-term sustainability planning.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53742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Daily Planning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84393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individuals and businesses in scheduling outdoor activities and operations.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9421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Limitations of Traditional Forecasting Methods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09241"/>
            <a:ext cx="5211589" cy="2953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1013" y="990823"/>
            <a:ext cx="269155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Where Conventional Approaches Fall Short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1013" y="1232446"/>
            <a:ext cx="2691557" cy="7448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34323" y="1348606"/>
            <a:ext cx="240208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Spatial Resolution Gaps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134323" y="1581076"/>
            <a:ext cx="240208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models fail to capture hyper-local microclimate variations at neighborhood scale.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1013" y="2050554"/>
            <a:ext cx="2691557" cy="7448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34323" y="2166714"/>
            <a:ext cx="240208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 Volume Challenges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6134323" y="2399184"/>
            <a:ext cx="240208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analysis cannot process the terabytes of real-time sensor data generated daily.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1013" y="2868662"/>
            <a:ext cx="2691557" cy="8849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34323" y="2984822"/>
            <a:ext cx="240208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Static Model Assumptions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134323" y="3217292"/>
            <a:ext cx="240208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numerical weather prediction (NWP) relies on fixed physical equations that struggle with rapidly changing conditions.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1013" y="3826818"/>
            <a:ext cx="2691557" cy="74488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134323" y="3942978"/>
            <a:ext cx="240208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Delayed Updates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6134323" y="4175447"/>
            <a:ext cx="240208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cycles are slow to incorporate new observations, reducing short-term accuracy.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2225"/>
            <a:ext cx="925860" cy="127843"/>
          </a:xfrm>
          <a:prstGeom prst="roundRect">
            <a:avLst>
              <a:gd name="adj" fmla="val 22123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46571" y="447452"/>
            <a:ext cx="1282154" cy="77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ML-POWERED SOLUTION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70012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Machine Learning–Driven Temperature Prediction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6119" y="908000"/>
            <a:ext cx="860896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ingests multi-year historical climate records and applies supervised regression algorithms to forecast daily temperature with high precision.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1071488"/>
            <a:ext cx="8084567" cy="3486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3714" y="3896594"/>
            <a:ext cx="2089984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Temperature Prediction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308958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3714" y="2290736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73714" y="148373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4613895"/>
            <a:ext cx="860896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input features include historical temperature, humidity, rainfall, wind speed, atmospheric pressure, and seasonal indicators — enabling the model to learn complex, non-linear climate patterns over time.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System Architecture &amp; Workflow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4129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End-to-End Data Flow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93169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climate data flows from heterogeneous sources through a standardized ETL pipeline, is stored in a relational database, processed by the ML engine, and delivered via a secure API to authenticated users through an interactive dashboard.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801169"/>
            <a:ext cx="3986733" cy="281285"/>
          </a:xfrm>
          <a:prstGeom prst="roundRect">
            <a:avLst>
              <a:gd name="adj" fmla="val 10915"/>
            </a:avLst>
          </a:prstGeom>
          <a:solidFill>
            <a:srgbClr val="F8ECD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985" y="2895154"/>
            <a:ext cx="91306" cy="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3366" y="2853258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supports real-time batch updates and incremental model retraining to maintain forecast accuracy as new data arrives.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 Pipeline, Preprocessing &amp; Feature Engineering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682154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50725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Normalize &amp; Scale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70025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Detect Outliers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190140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Impute Missing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09439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Ingest Raw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208190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transforms raw climate observations into a clean, model-ready dataset optimized for regression training.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96119" y="436847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Engineered Features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496119" y="4519017"/>
            <a:ext cx="1976958" cy="467469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723" y="4594622"/>
            <a:ext cx="182574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Temporal Features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571723" y="4740771"/>
            <a:ext cx="182574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Day-of-year, month, season indicators, and holiday flags.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2508498" y="4519017"/>
            <a:ext cx="1977033" cy="467469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84103" y="4594622"/>
            <a:ext cx="182582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Lag Features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584103" y="4740771"/>
            <a:ext cx="182582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T-1, T-7, and T-30 day temperature and humidity values.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496119" y="5021907"/>
            <a:ext cx="3989412" cy="382414"/>
          </a:xfrm>
          <a:prstGeom prst="roundRect">
            <a:avLst>
              <a:gd name="adj" fmla="val 7785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723" y="5097512"/>
            <a:ext cx="38382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Rolling Statistics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571723" y="5243661"/>
            <a:ext cx="38382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and 30-day moving averages for trend capture.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663232" y="436847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Dataset Overview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663232" y="4519017"/>
            <a:ext cx="3989412" cy="997074"/>
          </a:xfrm>
          <a:prstGeom prst="roundRect">
            <a:avLst>
              <a:gd name="adj" fmla="val 298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232" y="4663157"/>
            <a:ext cx="3989412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663232" y="4804916"/>
            <a:ext cx="3989412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663232" y="4946675"/>
            <a:ext cx="3989412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663232" y="5088434"/>
            <a:ext cx="3989412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663232" y="5230192"/>
            <a:ext cx="3989412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4663232" y="5371951"/>
            <a:ext cx="3989412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7055941" y="4519017"/>
            <a:ext cx="4763" cy="99707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738911" y="4549750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Parameter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7129165" y="4549750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Source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4738911" y="4691509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(°C)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7129165" y="4691509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Station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4738911" y="4833268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Humidity (%)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7129165" y="4833268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Network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4738911" y="4975027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Rainfall (mm)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7129165" y="4975027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Radar / Gauge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4738911" y="5116785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 Speed (m/s)</a:t>
            </a: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7129165" y="5116785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Anemometer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4738911" y="5258544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 (hPa)</a:t>
            </a: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7129165" y="5258544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Barometer</a:t>
            </a:r>
            <a:endParaRPr lang="en-US" sz="550" dirty="0"/>
          </a:p>
        </p:txBody>
      </p:sp>
      <p:sp>
        <p:nvSpPr>
          <p:cNvPr id="40" name="Text 37"/>
          <p:cNvSpPr/>
          <p:nvPr/>
        </p:nvSpPr>
        <p:spPr>
          <a:xfrm>
            <a:off x="4738911" y="5400303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Solar Radiation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7129165" y="5400303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901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Regression Algorithms &amp; Model Training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89037"/>
            <a:ext cx="3938067" cy="28345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77" y="977801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Algorithm Comparison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4577" y="1244278"/>
            <a:ext cx="393806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methods consistently outperform linear models on temperature prediction tasks. </a:t>
            </a: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XGBoost</a:t>
            </a: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achieves the highest R² (0.93) by capturing non-linear interactions between climate variables.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460" y="4029484"/>
            <a:ext cx="169441" cy="1694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3203" y="4026024"/>
            <a:ext cx="22751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Training Strategy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63203" y="4256484"/>
            <a:ext cx="22751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80/20 train-test split with 5-fold cross-validation to prevent overfitting.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3194" y="4029484"/>
            <a:ext cx="169441" cy="1694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17937" y="4026024"/>
            <a:ext cx="22751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617937" y="4256484"/>
            <a:ext cx="2275136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GridSearchCV optimizes tree depth, learning rate, and regularization parameters.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7929" y="4029484"/>
            <a:ext cx="169441" cy="1694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72671" y="4026024"/>
            <a:ext cx="22751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372671" y="4256484"/>
            <a:ext cx="2275136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temperature and humidity rank highest; seasonal encoding adds significant signal.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Evaluation Metrics &amp; Prediction Results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717575"/>
            <a:ext cx="4053706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0.93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96119" y="1013445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R² Score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96119" y="1145381"/>
            <a:ext cx="40537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explained by XGBoost on held-out test data.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4594101" y="717575"/>
            <a:ext cx="4053780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1.2°C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94101" y="1013445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MAE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594101" y="1145381"/>
            <a:ext cx="405378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Absolute Error — average prediction deviation.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496119" y="1336700"/>
            <a:ext cx="4053706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1.8°C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6119" y="1632570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RMSE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96119" y="1764506"/>
            <a:ext cx="40537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Mean Squared Error penalizing larger outliers.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4594101" y="1336700"/>
            <a:ext cx="4053780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98%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4101" y="1632570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Uptime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594101" y="1764506"/>
            <a:ext cx="405378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availability for real-time forecast generation.</a:t>
            </a:r>
            <a:endParaRPr lang="en-US" sz="5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29185"/>
            <a:ext cx="3989412" cy="287156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663232" y="1924794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Predicted vs. Actual Temperature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663232" y="2070943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7-day forecast closely tracks actual temperature readings, with minor deviations during rapid weather transitions. Error residuals are normally distributed, confirming model reliability.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486445"/>
            <a:ext cx="4722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User Roles &amp; Functional Modules</a:t>
            </a:r>
            <a:endParaRPr lang="en-US" sz="1850" dirty="0"/>
          </a:p>
        </p:txBody>
      </p:sp>
      <p:sp>
        <p:nvSpPr>
          <p:cNvPr id="4" name="Shape 1"/>
          <p:cNvSpPr/>
          <p:nvPr/>
        </p:nvSpPr>
        <p:spPr>
          <a:xfrm>
            <a:off x="3925119" y="880095"/>
            <a:ext cx="4722763" cy="864394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25131" y="980108"/>
            <a:ext cx="285750" cy="285750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3712" y="1058689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5131" y="1329854"/>
            <a:ext cx="452273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Researchers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025131" y="1517079"/>
            <a:ext cx="452273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raw datasets, run custom analyses, export reports, and monitor model performance metrics.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3925119" y="1808485"/>
            <a:ext cx="4722763" cy="864394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25131" y="1908497"/>
            <a:ext cx="285750" cy="285750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3712" y="1987079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25131" y="2258244"/>
            <a:ext cx="452273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Meteorological Agencies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025131" y="2445469"/>
            <a:ext cx="452273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data ingestion pipelines, validate forecasts, and publish official weather bulletins.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3925119" y="2736875"/>
            <a:ext cx="4722763" cy="991791"/>
          </a:xfrm>
          <a:prstGeom prst="roundRect">
            <a:avLst>
              <a:gd name="adj" fmla="val 4034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25131" y="2836887"/>
            <a:ext cx="285750" cy="285750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3712" y="2915469"/>
            <a:ext cx="128588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25131" y="3186633"/>
            <a:ext cx="452273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End Users (Farmers, Public)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025131" y="3373859"/>
            <a:ext cx="4522738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daily temperature forecasts, seasonal trends, and receive automated alerts via dashboard or API.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3925119" y="3792662"/>
            <a:ext cx="4722763" cy="864394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025131" y="3892674"/>
            <a:ext cx="285750" cy="285750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3712" y="3971255"/>
            <a:ext cx="128588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25131" y="4242420"/>
            <a:ext cx="452273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Administrators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4025131" y="4429646"/>
            <a:ext cx="452273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user authentication, role-based access control, system configuration, and security audits.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241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Technologies, Outcomes &amp; Future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80728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Implementation Stack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553245"/>
            <a:ext cx="1884164" cy="1115467"/>
          </a:xfrm>
          <a:prstGeom prst="roundRect">
            <a:avLst>
              <a:gd name="adj" fmla="val 525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4695" y="1711821"/>
            <a:ext cx="15670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4695" y="2067223"/>
            <a:ext cx="156701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Flask/FastAPI, Scikit-learn, XGBoost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7651" y="1553245"/>
            <a:ext cx="1884164" cy="1115467"/>
          </a:xfrm>
          <a:prstGeom prst="roundRect">
            <a:avLst>
              <a:gd name="adj" fmla="val 525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6227" y="1711821"/>
            <a:ext cx="15670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Database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76227" y="2067223"/>
            <a:ext cx="156701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PostgreSQL, Redis (caching)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6119" y="2806080"/>
            <a:ext cx="1884164" cy="1115467"/>
          </a:xfrm>
          <a:prstGeom prst="roundRect">
            <a:avLst>
              <a:gd name="adj" fmla="val 525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695" y="2964656"/>
            <a:ext cx="15670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4695" y="3320058"/>
            <a:ext cx="15670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React.js, D3.js, Chart.js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7651" y="2806080"/>
            <a:ext cx="1884164" cy="1115467"/>
          </a:xfrm>
          <a:prstGeom prst="roundRect">
            <a:avLst>
              <a:gd name="adj" fmla="val 525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6227" y="2964656"/>
            <a:ext cx="15670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76227" y="3320058"/>
            <a:ext cx="156701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Docker, AWS/GCP, CI/CD pipelines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46947" y="1180728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Expected Outcomes &amp; Future Enhancements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46947" y="1536129"/>
            <a:ext cx="3905696" cy="191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Immediate:</a:t>
            </a: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Deployable temperature forecast API with </a:t>
            </a:r>
            <a:r>
              <a:rPr lang="en-US" sz="10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≤1.5°C MAE</a:t>
            </a: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accuracy.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Short-term:</a:t>
            </a: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Integrate precipitation and wind speed prediction modules.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Medium-term:</a:t>
            </a: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Incorporate deep learning (LSTM, Transformers) for multi-day forecasts.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Long-term:</a:t>
            </a: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Expand to smart city platforms, IoT sensor networks, and climate change modeling.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46947" y="3606478"/>
            <a:ext cx="3905696" cy="981224"/>
          </a:xfrm>
          <a:prstGeom prst="roundRect">
            <a:avLst>
              <a:gd name="adj" fmla="val 5973"/>
            </a:avLst>
          </a:prstGeom>
          <a:solidFill>
            <a:srgbClr val="B6FCB8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474" y="3815879"/>
            <a:ext cx="174427" cy="13952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00427" y="3764905"/>
            <a:ext cx="331269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deployment targets include national meteorological services, agri-tech platforms, and disaster response agencies.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814</Words>
  <Application>Microsoft Office PowerPoint</Application>
  <PresentationFormat>On-screen Show (16:9)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Bricolage Grotesque SemiBold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Ajay Reddy</cp:lastModifiedBy>
  <cp:revision>1</cp:revision>
  <dcterms:created xsi:type="dcterms:W3CDTF">2026-07-28T05:29:33Z</dcterms:created>
  <dcterms:modified xsi:type="dcterms:W3CDTF">2026-09-30T13:58:09Z</dcterms:modified>
</cp:coreProperties>
</file>